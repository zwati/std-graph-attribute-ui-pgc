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263640"/>
            <a:ext cx="12188952" cy="457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079992" y="182880"/>
            <a:ext cx="2926080" cy="457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79992" y="20116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Teachers &amp; 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SGCMS -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DFF"/>
                </a:solidFill>
                <a:latin typeface="Calibri"/>
              </a:rPr>
              <a:t>Teachers &amp; Admin Operating Manual
Punjab Group of Colleges - Sahiwal Campus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355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ZWATI Solutions  |  System Training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6355080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CCFF"/>
                </a:solidFill>
                <a:latin typeface="Calibri"/>
              </a:rPr>
              <a:t>PGC-SGCMS | Punjab Group of Colleges Sahiwal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ZWATI Solutions  |  PGC-SGCMS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572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System Overview &amp; User Roles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74980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F"/>
                </a:solidFill>
                <a:latin typeface="Calibri"/>
              </a:rPr>
              <a:t>Three roles, one unified platform.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280160"/>
            <a:ext cx="117043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 b="0">
                <a:solidFill>
                  <a:srgbClr val="444455"/>
                </a:solidFill>
                <a:latin typeface="Calibri"/>
              </a:rPr>
              <a:t>The SGCMS has three distinct user roles, each with a dedicated portal:</a:t>
            </a:r>
          </a:p>
          <a:p>
            <a:pPr/>
            <a:r>
              <a:rPr sz="600" b="0">
                <a:solidFill>
                  <a:srgbClr val="444455"/>
                </a:solidFill>
                <a:latin typeface="Calibri"/>
              </a:rPr>
              <a:t/>
            </a:r>
          </a:p>
          <a:p>
            <a:pPr/>
            <a:r>
              <a:rPr sz="1800" b="1">
                <a:solidFill>
                  <a:srgbClr val="003366"/>
                </a:solidFill>
                <a:latin typeface="Calibri"/>
              </a:rPr>
              <a:t>ADMIN</a:t>
            </a:r>
          </a:p>
          <a:p>
            <a:pPr lvl="1"/>
            <a:r>
              <a:rPr sz="1500" b="0">
                <a:solidFill>
                  <a:srgbClr val="444455"/>
                </a:solidFill>
                <a:latin typeface="Calibri"/>
              </a:rPr>
              <a:t>Full system access. Manages students, teachers, classes, and can view all data across the campus.</a:t>
            </a:r>
          </a:p>
          <a:p>
            <a:pPr/>
            <a:r>
              <a:rPr sz="600" b="0">
                <a:solidFill>
                  <a:srgbClr val="444455"/>
                </a:solidFill>
                <a:latin typeface="Calibri"/>
              </a:rPr>
              <a:t/>
            </a:r>
          </a:p>
          <a:p>
            <a:pPr/>
            <a:r>
              <a:rPr sz="1800" b="1">
                <a:solidFill>
                  <a:srgbClr val="003366"/>
                </a:solidFill>
                <a:latin typeface="Calibri"/>
              </a:rPr>
              <a:t>TEACHER</a:t>
            </a:r>
          </a:p>
          <a:p>
            <a:pPr lvl="1"/>
            <a:r>
              <a:rPr sz="1500" b="0">
                <a:solidFill>
                  <a:srgbClr val="444455"/>
                </a:solidFill>
                <a:latin typeface="Calibri"/>
              </a:rPr>
              <a:t>Can view and evaluate their assigned students only. Submits monthly character evaluations.</a:t>
            </a:r>
          </a:p>
          <a:p>
            <a:pPr/>
            <a:r>
              <a:rPr sz="600" b="0">
                <a:solidFill>
                  <a:srgbClr val="444455"/>
                </a:solidFill>
                <a:latin typeface="Calibri"/>
              </a:rPr>
              <a:t/>
            </a:r>
          </a:p>
          <a:p>
            <a:pPr/>
            <a:r>
              <a:rPr sz="1800" b="1">
                <a:solidFill>
                  <a:srgbClr val="003366"/>
                </a:solidFill>
                <a:latin typeface="Calibri"/>
              </a:rPr>
              <a:t>PARENT</a:t>
            </a:r>
          </a:p>
          <a:p>
            <a:pPr lvl="1"/>
            <a:r>
              <a:rPr sz="1500" b="0">
                <a:solidFill>
                  <a:srgbClr val="444455"/>
                </a:solidFill>
                <a:latin typeface="Calibri"/>
              </a:rPr>
              <a:t>Read-only access to their own child's growth data, reports, and PDF downloads.</a:t>
            </a:r>
          </a:p>
          <a:p>
            <a:pPr/>
            <a:r>
              <a:rPr sz="800" b="0">
                <a:solidFill>
                  <a:srgbClr val="444455"/>
                </a:solidFill>
                <a:latin typeface="Calibri"/>
              </a:rPr>
              <a:t/>
            </a:r>
          </a:p>
          <a:p>
            <a:pPr/>
            <a:r>
              <a:rPr sz="1500" b="1">
                <a:solidFill>
                  <a:srgbClr val="CC0000"/>
                </a:solidFill>
                <a:latin typeface="Calibri"/>
              </a:rPr>
              <a:t>Access URL:  pgcswl-sgcms.vercel.app  (works on phone, tablet, or PC)</a:t>
            </a:r>
          </a:p>
          <a:p>
            <a:pPr/>
            <a:r>
              <a:rPr sz="1400" b="0">
                <a:solidFill>
                  <a:srgbClr val="444455"/>
                </a:solidFill>
                <a:latin typeface="Calibri"/>
              </a:rPr>
              <a:t>Progressive Web App (PWA) - can be installed on any device from the login screen.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ZWATI Solutions  |  PGC-SGCMS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572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Logging In - Step-by-Step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280160"/>
            <a:ext cx="117043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 b="1">
                <a:solidFill>
                  <a:srgbClr val="003366"/>
                </a:solidFill>
                <a:latin typeface="Calibri"/>
              </a:rPr>
              <a:t>Step 1 - Open the system</a:t>
            </a:r>
          </a:p>
          <a:p>
            <a:pPr lvl="1"/>
            <a:r>
              <a:rPr sz="1500" b="0">
                <a:solidFill>
                  <a:srgbClr val="444455"/>
                </a:solidFill>
                <a:latin typeface="Calibri"/>
              </a:rPr>
              <a:t>Go to:  pgcswl-sgcms.vercel.app  (or scan the campus QR code)</a:t>
            </a:r>
          </a:p>
          <a:p>
            <a:pPr/>
            <a:r>
              <a:rPr sz="600" b="0">
                <a:solidFill>
                  <a:srgbClr val="444455"/>
                </a:solidFill>
                <a:latin typeface="Calibri"/>
              </a:rPr>
              <a:t/>
            </a:r>
          </a:p>
          <a:p>
            <a:pPr/>
            <a:r>
              <a:rPr sz="1700" b="1">
                <a:solidFill>
                  <a:srgbClr val="003366"/>
                </a:solidFill>
                <a:latin typeface="Calibri"/>
              </a:rPr>
              <a:t>Step 2 - Select your role tab</a:t>
            </a:r>
          </a:p>
          <a:p>
            <a:pPr lvl="1"/>
            <a:r>
              <a:rPr sz="1500" b="0">
                <a:solidFill>
                  <a:srgbClr val="444455"/>
                </a:solidFill>
                <a:latin typeface="Calibri"/>
              </a:rPr>
              <a:t>Choose "Admin" or "Teacher" from the top tabs on the login screen.</a:t>
            </a:r>
          </a:p>
          <a:p>
            <a:pPr/>
            <a:r>
              <a:rPr sz="600" b="0">
                <a:solidFill>
                  <a:srgbClr val="444455"/>
                </a:solidFill>
                <a:latin typeface="Calibri"/>
              </a:rPr>
              <a:t/>
            </a:r>
          </a:p>
          <a:p>
            <a:pPr/>
            <a:r>
              <a:rPr sz="1700" b="1">
                <a:solidFill>
                  <a:srgbClr val="003366"/>
                </a:solidFill>
                <a:latin typeface="Calibri"/>
              </a:rPr>
              <a:t>Step 3 - Enter your credentials</a:t>
            </a:r>
          </a:p>
          <a:p>
            <a:pPr lvl="1"/>
            <a:r>
              <a:rPr sz="1500" b="0">
                <a:solidFill>
                  <a:srgbClr val="444455"/>
                </a:solidFill>
                <a:latin typeface="Calibri"/>
              </a:rPr>
              <a:t>Admin:    Username &amp; Password as set by ZWATI Solutions</a:t>
            </a:r>
          </a:p>
          <a:p>
            <a:pPr lvl="1"/>
            <a:r>
              <a:rPr sz="1500" b="0">
                <a:solidFill>
                  <a:srgbClr val="444455"/>
                </a:solidFill>
                <a:latin typeface="Calibri"/>
              </a:rPr>
              <a:t>Teacher:  Username &amp; Password as provided by Admin</a:t>
            </a:r>
          </a:p>
          <a:p>
            <a:pPr/>
            <a:r>
              <a:rPr sz="600" b="0">
                <a:solidFill>
                  <a:srgbClr val="444455"/>
                </a:solidFill>
                <a:latin typeface="Calibri"/>
              </a:rPr>
              <a:t/>
            </a:r>
          </a:p>
          <a:p>
            <a:pPr/>
            <a:r>
              <a:rPr sz="1700" b="1">
                <a:solidFill>
                  <a:srgbClr val="003366"/>
                </a:solidFill>
                <a:latin typeface="Calibri"/>
              </a:rPr>
              <a:t>Step 4 - You are in!</a:t>
            </a:r>
          </a:p>
          <a:p>
            <a:pPr lvl="1"/>
            <a:r>
              <a:rPr sz="1500" b="0">
                <a:solidFill>
                  <a:srgbClr val="444455"/>
                </a:solidFill>
                <a:latin typeface="Calibri"/>
              </a:rPr>
              <a:t>You will land on your dashboard automatically.</a:t>
            </a:r>
          </a:p>
          <a:p>
            <a:pPr/>
            <a:r>
              <a:rPr sz="800" b="0">
                <a:solidFill>
                  <a:srgbClr val="444455"/>
                </a:solidFill>
                <a:latin typeface="Calibri"/>
              </a:rPr>
              <a:t/>
            </a:r>
          </a:p>
          <a:p>
            <a:pPr/>
            <a:r>
              <a:rPr sz="1400" b="1">
                <a:solidFill>
                  <a:srgbClr val="CC0000"/>
                </a:solidFill>
                <a:latin typeface="Calibri"/>
              </a:rPr>
              <a:t>Forgot password? Contact the System Admin to reset it. Passwords are NOT self-recoverable.</a:t>
            </a:r>
          </a:p>
          <a:p>
            <a:pPr/>
            <a:r>
              <a:rPr sz="1400" b="0">
                <a:solidFill>
                  <a:srgbClr val="444455"/>
                </a:solidFill>
                <a:latin typeface="Calibri"/>
              </a:rPr>
              <a:t>Tip: Install the app to your phone home screen for instant one-tap access.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ZWATI Solutions  |  PGC-SGCMS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572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Admin -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74980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F"/>
                </a:solidFill>
                <a:latin typeface="Calibri"/>
              </a:rPr>
              <a:t>Your command center: real-time college-wide statistics.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280160"/>
            <a:ext cx="117043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 b="1">
                <a:solidFill>
                  <a:srgbClr val="003366"/>
                </a:solidFill>
                <a:latin typeface="Calibri"/>
              </a:rPr>
              <a:t>The Admin Dashboard shows 4 live stat cards:</a:t>
            </a:r>
          </a:p>
          <a:p>
            <a:pPr lvl="1"/>
            <a:r>
              <a:rPr sz="1500" b="0">
                <a:solidFill>
                  <a:srgbClr val="444455"/>
                </a:solidFill>
                <a:latin typeface="Calibri"/>
              </a:rPr>
              <a:t>Total Students - total number enrolled in the system</a:t>
            </a:r>
          </a:p>
          <a:p>
            <a:pPr lvl="1"/>
            <a:r>
              <a:rPr sz="1500" b="0">
                <a:solidFill>
                  <a:srgbClr val="444455"/>
                </a:solidFill>
                <a:latin typeface="Calibri"/>
              </a:rPr>
              <a:t>Avg Growth Index - school-wide character average (0-100)</a:t>
            </a:r>
          </a:p>
          <a:p>
            <a:pPr lvl="1"/>
            <a:r>
              <a:rPr sz="1500" b="0">
                <a:solidFill>
                  <a:srgbClr val="444455"/>
                </a:solidFill>
                <a:latin typeface="Calibri"/>
              </a:rPr>
              <a:t>Evaluations Today - how many evaluations were submitted today</a:t>
            </a:r>
          </a:p>
          <a:p>
            <a:pPr lvl="1"/>
            <a:r>
              <a:rPr sz="1500" b="0">
                <a:solidFill>
                  <a:srgbClr val="444455"/>
                </a:solidFill>
                <a:latin typeface="Calibri"/>
              </a:rPr>
              <a:t>Active Teachers - number of teachers with active accounts</a:t>
            </a:r>
          </a:p>
          <a:p>
            <a:pPr/>
            <a:r>
              <a:rPr sz="800" b="0">
                <a:solidFill>
                  <a:srgbClr val="444455"/>
                </a:solidFill>
                <a:latin typeface="Calibri"/>
              </a:rPr>
              <a:t/>
            </a:r>
          </a:p>
          <a:p>
            <a:pPr/>
            <a:r>
              <a:rPr sz="1700" b="1">
                <a:solidFill>
                  <a:srgbClr val="003366"/>
                </a:solidFill>
                <a:latin typeface="Calibri"/>
              </a:rPr>
              <a:t>Charts below the stat cards:</a:t>
            </a:r>
          </a:p>
          <a:p>
            <a:pPr lvl="1"/>
            <a:r>
              <a:rPr sz="1500" b="0">
                <a:solidFill>
                  <a:srgbClr val="444455"/>
                </a:solidFill>
                <a:latin typeface="Calibri"/>
              </a:rPr>
              <a:t>School-wide Attribute Averages - bar chart for all 6 attributes across the whole school</a:t>
            </a:r>
          </a:p>
          <a:p>
            <a:pPr lvl="1"/>
            <a:r>
              <a:rPr sz="1500" b="0">
                <a:solidFill>
                  <a:srgbClr val="444455"/>
                </a:solidFill>
                <a:latin typeface="Calibri"/>
              </a:rPr>
              <a:t>Top Performing Students - ranked table with Growth Index scores</a:t>
            </a:r>
          </a:p>
          <a:p>
            <a:pPr/>
            <a:r>
              <a:rPr sz="800" b="0">
                <a:solidFill>
                  <a:srgbClr val="444455"/>
                </a:solidFill>
                <a:latin typeface="Calibri"/>
              </a:rPr>
              <a:t/>
            </a:r>
          </a:p>
          <a:p>
            <a:pPr/>
            <a:r>
              <a:rPr sz="1400" b="0">
                <a:solidFill>
                  <a:srgbClr val="444455"/>
                </a:solidFill>
                <a:latin typeface="Calibri"/>
              </a:rPr>
              <a:t>The dashboard auto-refreshes when you open it. Data is cached for speed.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ZWATI Solutions  |  PGC-SGCMS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572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Admin - Student Database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74980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F"/>
                </a:solidFill>
                <a:latin typeface="Calibri"/>
              </a:rPr>
              <a:t>Add, edit, search, and manage all students from one screen.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280160"/>
            <a:ext cx="117043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 b="1">
                <a:solidFill>
                  <a:srgbClr val="003366"/>
                </a:solidFill>
                <a:latin typeface="Calibri"/>
              </a:rPr>
              <a:t>Viewing Students</a:t>
            </a:r>
          </a:p>
          <a:p>
            <a:pPr lvl="1"/>
            <a:r>
              <a:rPr sz="1500" b="0">
                <a:solidFill>
                  <a:srgbClr val="444455"/>
                </a:solidFill>
                <a:latin typeface="Calibri"/>
              </a:rPr>
              <a:t>Go to 'Students' in the sidebar. You'll see a searchable table of all enrolled students.</a:t>
            </a:r>
          </a:p>
          <a:p>
            <a:pPr lvl="1"/>
            <a:r>
              <a:rPr sz="1400" b="0">
                <a:solidFill>
                  <a:srgbClr val="444455"/>
                </a:solidFill>
                <a:latin typeface="Calibri"/>
              </a:rPr>
              <a:t>Filter by Class, Section, or Category (Medical / Pre-Eng / ICS / Others).</a:t>
            </a:r>
          </a:p>
          <a:p>
            <a:pPr/>
            <a:r>
              <a:rPr sz="600" b="0">
                <a:solidFill>
                  <a:srgbClr val="444455"/>
                </a:solidFill>
                <a:latin typeface="Calibri"/>
              </a:rPr>
              <a:t/>
            </a:r>
          </a:p>
          <a:p>
            <a:pPr/>
            <a:r>
              <a:rPr sz="1700" b="1">
                <a:solidFill>
                  <a:srgbClr val="003366"/>
                </a:solidFill>
                <a:latin typeface="Calibri"/>
              </a:rPr>
              <a:t>Adding a New Student</a:t>
            </a:r>
          </a:p>
          <a:p>
            <a:pPr lvl="1"/>
            <a:r>
              <a:rPr sz="1500" b="0">
                <a:solidFill>
                  <a:srgbClr val="444455"/>
                </a:solidFill>
                <a:latin typeface="Calibri"/>
              </a:rPr>
              <a:t>Click 'Add Student' (red button top-right). Fill in: Name, Father's Name, Roll No., Class, Section, Category, 9th Result, Gender.</a:t>
            </a:r>
          </a:p>
          <a:p>
            <a:pPr lvl="1"/>
            <a:r>
              <a:rPr sz="1400" b="0">
                <a:solidFill>
                  <a:srgbClr val="444455"/>
                </a:solidFill>
                <a:latin typeface="Calibri"/>
              </a:rPr>
              <a:t>A Parent Password is also set here - share it with the student's parent for portal access.</a:t>
            </a:r>
          </a:p>
          <a:p>
            <a:pPr/>
            <a:r>
              <a:rPr sz="600" b="0">
                <a:solidFill>
                  <a:srgbClr val="444455"/>
                </a:solidFill>
                <a:latin typeface="Calibri"/>
              </a:rPr>
              <a:t/>
            </a:r>
          </a:p>
          <a:p>
            <a:pPr/>
            <a:r>
              <a:rPr sz="1700" b="1">
                <a:solidFill>
                  <a:srgbClr val="003366"/>
                </a:solidFill>
                <a:latin typeface="Calibri"/>
              </a:rPr>
              <a:t>Editing a Student</a:t>
            </a:r>
          </a:p>
          <a:p>
            <a:pPr lvl="1"/>
            <a:r>
              <a:rPr sz="1500" b="0">
                <a:solidFill>
                  <a:srgbClr val="444455"/>
                </a:solidFill>
                <a:latin typeface="Calibri"/>
              </a:rPr>
              <a:t>Click the Edit icon on any student row. Update any field and save.</a:t>
            </a:r>
          </a:p>
          <a:p>
            <a:pPr/>
            <a:r>
              <a:rPr sz="600" b="0">
                <a:solidFill>
                  <a:srgbClr val="444455"/>
                </a:solidFill>
                <a:latin typeface="Calibri"/>
              </a:rPr>
              <a:t/>
            </a:r>
          </a:p>
          <a:p>
            <a:pPr/>
            <a:r>
              <a:rPr sz="1700" b="1">
                <a:solidFill>
                  <a:srgbClr val="003366"/>
                </a:solidFill>
                <a:latin typeface="Calibri"/>
              </a:rPr>
              <a:t>Deleting a Student</a:t>
            </a:r>
          </a:p>
          <a:p>
            <a:pPr lvl="1"/>
            <a:r>
              <a:rPr sz="1500" b="0">
                <a:solidFill>
                  <a:srgbClr val="444455"/>
                </a:solidFill>
                <a:latin typeface="Calibri"/>
              </a:rPr>
              <a:t>Click the Delete icon. A confirmation prompt will appear. This action is permanent.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ZWATI Solutions  |  PGC-SGCMS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572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Admin - Class, Section &amp; Teacher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74980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F"/>
                </a:solidFill>
                <a:latin typeface="Calibri"/>
              </a:rPr>
              <a:t>Organize students into classes and assign teachers.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280160"/>
            <a:ext cx="117043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 b="1">
                <a:solidFill>
                  <a:srgbClr val="003366"/>
                </a:solidFill>
                <a:latin typeface="Calibri"/>
              </a:rPr>
              <a:t>Go to 'Classes' in the left sidebar.</a:t>
            </a:r>
          </a:p>
          <a:p>
            <a:pPr/>
            <a:r>
              <a:rPr sz="600" b="0">
                <a:solidFill>
                  <a:srgbClr val="444455"/>
                </a:solidFill>
                <a:latin typeface="Calibri"/>
              </a:rPr>
              <a:t/>
            </a:r>
          </a:p>
          <a:p>
            <a:pPr/>
            <a:r>
              <a:rPr sz="1700" b="1">
                <a:solidFill>
                  <a:srgbClr val="003366"/>
                </a:solidFill>
                <a:latin typeface="Calibri"/>
              </a:rPr>
              <a:t>Creating a Class</a:t>
            </a:r>
          </a:p>
          <a:p>
            <a:pPr lvl="1"/>
            <a:r>
              <a:rPr sz="1500" b="0">
                <a:solidFill>
                  <a:srgbClr val="444455"/>
                </a:solidFill>
                <a:latin typeface="Calibri"/>
              </a:rPr>
              <a:t>Click 'Add Class'. Enter class name (e.g. 11th) and section (e.g. A, B). Assign a teacher from the dropdown.</a:t>
            </a:r>
          </a:p>
          <a:p>
            <a:pPr/>
            <a:r>
              <a:rPr sz="600" b="0">
                <a:solidFill>
                  <a:srgbClr val="444455"/>
                </a:solidFill>
                <a:latin typeface="Calibri"/>
              </a:rPr>
              <a:t/>
            </a:r>
          </a:p>
          <a:p>
            <a:pPr/>
            <a:r>
              <a:rPr sz="1700" b="1">
                <a:solidFill>
                  <a:srgbClr val="003366"/>
                </a:solidFill>
                <a:latin typeface="Calibri"/>
              </a:rPr>
              <a:t>Viewing a Class Roster</a:t>
            </a:r>
          </a:p>
          <a:p>
            <a:pPr lvl="1"/>
            <a:r>
              <a:rPr sz="1500" b="0">
                <a:solidFill>
                  <a:srgbClr val="444455"/>
                </a:solidFill>
                <a:latin typeface="Calibri"/>
              </a:rPr>
              <a:t>Click on any class card to see all enrolled students with their Growth Index.</a:t>
            </a:r>
          </a:p>
          <a:p>
            <a:pPr/>
            <a:r>
              <a:rPr sz="600" b="0">
                <a:solidFill>
                  <a:srgbClr val="444455"/>
                </a:solidFill>
                <a:latin typeface="Calibri"/>
              </a:rPr>
              <a:t/>
            </a:r>
          </a:p>
          <a:p>
            <a:pPr/>
            <a:r>
              <a:rPr sz="1700" b="1">
                <a:solidFill>
                  <a:srgbClr val="003366"/>
                </a:solidFill>
                <a:latin typeface="Calibri"/>
              </a:rPr>
              <a:t>Teacher Accounts</a:t>
            </a:r>
          </a:p>
          <a:p>
            <a:pPr lvl="1"/>
            <a:r>
              <a:rPr sz="1500" b="0">
                <a:solidFill>
                  <a:srgbClr val="444455"/>
                </a:solidFill>
                <a:latin typeface="Calibri"/>
              </a:rPr>
              <a:t>Go to 'Teachers' in the sidebar. Click 'Add Teacher'. Enter Name, Username, Password, and Assigned Class.</a:t>
            </a:r>
          </a:p>
          <a:p>
            <a:pPr lvl="1"/>
            <a:r>
              <a:rPr sz="1400" b="0">
                <a:solidFill>
                  <a:srgbClr val="444455"/>
                </a:solidFill>
                <a:latin typeface="Calibri"/>
              </a:rPr>
              <a:t>Use the Edit button to change credentials or class assignment anytime.</a:t>
            </a:r>
          </a:p>
          <a:p>
            <a:pPr lvl="1"/>
            <a:r>
              <a:rPr sz="1400" b="0">
                <a:solidFill>
                  <a:srgbClr val="444455"/>
                </a:solidFill>
                <a:latin typeface="Calibri"/>
              </a:rPr>
              <a:t>Deleting a teacher account removes their login but keeps all past evaluations in the database.</a:t>
            </a:r>
          </a:p>
          <a:p>
            <a:pPr/>
            <a:r>
              <a:rPr sz="600" b="0">
                <a:solidFill>
                  <a:srgbClr val="444455"/>
                </a:solidFill>
                <a:latin typeface="Calibri"/>
              </a:rPr>
              <a:t/>
            </a:r>
          </a:p>
          <a:p>
            <a:pPr/>
            <a:r>
              <a:rPr sz="1400" b="1">
                <a:solidFill>
                  <a:srgbClr val="CC0000"/>
                </a:solidFill>
                <a:latin typeface="Calibri"/>
              </a:rPr>
              <a:t>IMPORTANT: A teacher can only evaluate students in their ASSIGNED class/section.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ZWATI Solutions  |  PGC-SGCMS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572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Admin - Parents Section &amp;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280160"/>
            <a:ext cx="54864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>
                <a:solidFill>
                  <a:srgbClr val="003366"/>
                </a:solidFill>
                <a:latin typeface="Calibri"/>
              </a:rPr>
              <a:t>Parents Section</a:t>
            </a:r>
          </a:p>
          <a:p>
            <a:pPr lvl="1"/>
            <a:r>
              <a:rPr sz="1400" b="0">
                <a:solidFill>
                  <a:srgbClr val="444455"/>
                </a:solidFill>
                <a:latin typeface="Calibri"/>
              </a:rPr>
              <a:t>View all registered parents alongside their linked student.</a:t>
            </a:r>
          </a:p>
          <a:p>
            <a:pPr/>
            <a:r>
              <a:rPr sz="500" b="0">
                <a:solidFill>
                  <a:srgbClr val="444455"/>
                </a:solidFill>
                <a:latin typeface="Calibri"/>
              </a:rPr>
              <a:t/>
            </a:r>
          </a:p>
          <a:p>
            <a:pPr lvl="1"/>
            <a:r>
              <a:rPr sz="1400" b="0">
                <a:solidFill>
                  <a:srgbClr val="444455"/>
                </a:solidFill>
                <a:latin typeface="Calibri"/>
              </a:rPr>
              <a:t>See each parent's associated student name, class, roll number, and Growth Index.</a:t>
            </a:r>
          </a:p>
          <a:p>
            <a:pPr/>
            <a:r>
              <a:rPr sz="500" b="0">
                <a:solidFill>
                  <a:srgbClr val="444455"/>
                </a:solidFill>
                <a:latin typeface="Calibri"/>
              </a:rPr>
              <a:t/>
            </a:r>
          </a:p>
          <a:p>
            <a:pPr lvl="1"/>
            <a:r>
              <a:rPr sz="1400" b="0">
                <a:solidFill>
                  <a:srgbClr val="444455"/>
                </a:solidFill>
                <a:latin typeface="Calibri"/>
              </a:rPr>
              <a:t>Reset parent passwords from this screen if a parent is locked out.</a:t>
            </a:r>
          </a:p>
          <a:p>
            <a:pPr/>
            <a:r>
              <a:rPr sz="500" b="0">
                <a:solidFill>
                  <a:srgbClr val="444455"/>
                </a:solidFill>
                <a:latin typeface="Calibri"/>
              </a:rPr>
              <a:t/>
            </a:r>
          </a:p>
          <a:p>
            <a:pPr lvl="1"/>
            <a:r>
              <a:rPr sz="1400" b="0">
                <a:solidFill>
                  <a:srgbClr val="444455"/>
                </a:solidFill>
                <a:latin typeface="Calibri"/>
              </a:rPr>
              <a:t>Verify that each student has a valid parent password assigned before rollout.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0" y="1371600"/>
            <a:ext cx="36576" cy="498348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89320" y="1280160"/>
            <a:ext cx="54864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>
                <a:solidFill>
                  <a:srgbClr val="003366"/>
                </a:solidFill>
                <a:latin typeface="Calibri"/>
              </a:rPr>
              <a:t>Analytics Page</a:t>
            </a:r>
          </a:p>
          <a:p>
            <a:pPr lvl="1"/>
            <a:r>
              <a:rPr sz="1400" b="0">
                <a:solidFill>
                  <a:srgbClr val="444455"/>
                </a:solidFill>
                <a:latin typeface="Calibri"/>
              </a:rPr>
              <a:t>School Average Growth Index gauge - overall character health of the institution.</a:t>
            </a:r>
          </a:p>
          <a:p>
            <a:pPr/>
            <a:r>
              <a:rPr sz="500" b="0">
                <a:solidFill>
                  <a:srgbClr val="444455"/>
                </a:solidFill>
                <a:latin typeface="Calibri"/>
              </a:rPr>
              <a:t/>
            </a:r>
          </a:p>
          <a:p>
            <a:pPr lvl="1"/>
            <a:r>
              <a:rPr sz="1400" b="0">
                <a:solidFill>
                  <a:srgbClr val="444455"/>
                </a:solidFill>
                <a:latin typeface="Calibri"/>
              </a:rPr>
              <a:t>Attribute Averages (School-wide) - bar chart showing average score for all 6 attributes.</a:t>
            </a:r>
          </a:p>
          <a:p>
            <a:pPr/>
            <a:r>
              <a:rPr sz="500" b="0">
                <a:solidFill>
                  <a:srgbClr val="444455"/>
                </a:solidFill>
                <a:latin typeface="Calibri"/>
              </a:rPr>
              <a:t/>
            </a:r>
          </a:p>
          <a:p>
            <a:pPr lvl="1"/>
            <a:r>
              <a:rPr sz="1400" b="0">
                <a:solidFill>
                  <a:srgbClr val="444455"/>
                </a:solidFill>
                <a:latin typeface="Calibri"/>
              </a:rPr>
              <a:t>Top Performers Table - ranked leaderboard of students by Growth Index.</a:t>
            </a:r>
          </a:p>
          <a:p>
            <a:pPr/>
            <a:r>
              <a:rPr sz="500" b="0">
                <a:solidFill>
                  <a:srgbClr val="444455"/>
                </a:solidFill>
                <a:latin typeface="Calibri"/>
              </a:rPr>
              <a:t/>
            </a:r>
          </a:p>
          <a:p>
            <a:pPr lvl="1"/>
            <a:r>
              <a:rPr sz="1400" b="1">
                <a:solidFill>
                  <a:srgbClr val="CC0000"/>
                </a:solidFill>
                <a:latin typeface="Calibri"/>
              </a:rPr>
              <a:t>Use Analytics weekly to monitor which attributes are declining school-wide.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ZWATI Solutions  |  PGC-SGCMS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572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Teacher - Dashboard &amp; Student 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74980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F"/>
                </a:solidFill>
                <a:latin typeface="Calibri"/>
              </a:rPr>
              <a:t>Teachers see only their own assigned students.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280160"/>
            <a:ext cx="117043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 b="1">
                <a:solidFill>
                  <a:srgbClr val="003366"/>
                </a:solidFill>
                <a:latin typeface="Calibri"/>
              </a:rPr>
              <a:t>Teacher Dashboard shows:</a:t>
            </a:r>
          </a:p>
          <a:p>
            <a:pPr lvl="1"/>
            <a:r>
              <a:rPr sz="1500" b="0">
                <a:solidFill>
                  <a:srgbClr val="444455"/>
                </a:solidFill>
                <a:latin typeface="Calibri"/>
              </a:rPr>
              <a:t>Total students in your class, average Growth Index of your class, evaluations submitted today.</a:t>
            </a:r>
          </a:p>
          <a:p>
            <a:pPr lvl="1"/>
            <a:r>
              <a:rPr sz="1400" b="0">
                <a:solidFill>
                  <a:srgbClr val="444455"/>
                </a:solidFill>
                <a:latin typeface="Calibri"/>
              </a:rPr>
              <a:t>Quick-access links to your student list and evaluation form.</a:t>
            </a:r>
          </a:p>
          <a:p>
            <a:pPr/>
            <a:r>
              <a:rPr sz="800" b="0">
                <a:solidFill>
                  <a:srgbClr val="444455"/>
                </a:solidFill>
                <a:latin typeface="Calibri"/>
              </a:rPr>
              <a:t/>
            </a:r>
          </a:p>
          <a:p>
            <a:pPr/>
            <a:r>
              <a:rPr sz="1700" b="1">
                <a:solidFill>
                  <a:srgbClr val="003366"/>
                </a:solidFill>
                <a:latin typeface="Calibri"/>
              </a:rPr>
              <a:t>Student List</a:t>
            </a:r>
          </a:p>
          <a:p>
            <a:pPr lvl="1"/>
            <a:r>
              <a:rPr sz="1500" b="0">
                <a:solidFill>
                  <a:srgbClr val="444455"/>
                </a:solidFill>
                <a:latin typeface="Calibri"/>
              </a:rPr>
              <a:t>Go to 'Student List' to see all students assigned to your class.</a:t>
            </a:r>
          </a:p>
          <a:p>
            <a:pPr lvl="1"/>
            <a:r>
              <a:rPr sz="1400" b="0">
                <a:solidFill>
                  <a:srgbClr val="444455"/>
                </a:solidFill>
                <a:latin typeface="Calibri"/>
              </a:rPr>
              <a:t>Each student card shows: Name, Roll Number, Growth Index, and date of last evaluation.</a:t>
            </a:r>
          </a:p>
          <a:p>
            <a:pPr lvl="1"/>
            <a:r>
              <a:rPr sz="1400" b="0">
                <a:solidFill>
                  <a:srgbClr val="444455"/>
                </a:solidFill>
                <a:latin typeface="Calibri"/>
              </a:rPr>
              <a:t>Click 'Evaluate' on any student to go directly to their evaluation form.</a:t>
            </a:r>
          </a:p>
          <a:p>
            <a:pPr/>
            <a:r>
              <a:rPr sz="800" b="0">
                <a:solidFill>
                  <a:srgbClr val="444455"/>
                </a:solidFill>
                <a:latin typeface="Calibri"/>
              </a:rPr>
              <a:t/>
            </a:r>
          </a:p>
          <a:p>
            <a:pPr/>
            <a:r>
              <a:rPr sz="1700" b="1">
                <a:solidFill>
                  <a:srgbClr val="003366"/>
                </a:solidFill>
                <a:latin typeface="Calibri"/>
              </a:rPr>
              <a:t>Evaluation History</a:t>
            </a:r>
          </a:p>
          <a:p>
            <a:pPr lvl="1"/>
            <a:r>
              <a:rPr sz="1500" b="0">
                <a:solidFill>
                  <a:srgbClr val="444455"/>
                </a:solidFill>
                <a:latin typeface="Calibri"/>
              </a:rPr>
              <a:t>Go to 'History' to see a log of all past evaluations you have submitted.</a:t>
            </a:r>
          </a:p>
          <a:p>
            <a:pPr lvl="1"/>
            <a:r>
              <a:rPr sz="1400" b="0">
                <a:solidFill>
                  <a:srgbClr val="444455"/>
                </a:solidFill>
                <a:latin typeface="Calibri"/>
              </a:rPr>
              <a:t>Filter by student or by month to review specific sessions.</a:t>
            </a:r>
          </a:p>
          <a:p>
            <a:pPr/>
            <a:r>
              <a:rPr sz="800" b="0">
                <a:solidFill>
                  <a:srgbClr val="444455"/>
                </a:solidFill>
                <a:latin typeface="Calibri"/>
              </a:rPr>
              <a:t/>
            </a:r>
          </a:p>
          <a:p>
            <a:pPr/>
            <a:r>
              <a:rPr sz="1700" b="1">
                <a:solidFill>
                  <a:srgbClr val="003366"/>
                </a:solidFill>
                <a:latin typeface="Calibri"/>
              </a:rPr>
              <a:t>Reports Page</a:t>
            </a:r>
          </a:p>
          <a:p>
            <a:pPr lvl="1"/>
            <a:r>
              <a:rPr sz="1400" b="0">
                <a:solidFill>
                  <a:srgbClr val="444455"/>
                </a:solidFill>
                <a:latin typeface="Calibri"/>
              </a:rPr>
              <a:t>View a summarized report of growth progress for your class.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ZWATI Solutions  |  PGC-SGCMS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572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Teacher - How to Submit a Student Evaluation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74980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F"/>
                </a:solidFill>
                <a:latin typeface="Calibri"/>
              </a:rPr>
              <a:t>The core function of the teacher portal - rate each student's character.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280160"/>
            <a:ext cx="117043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 b="1">
                <a:solidFill>
                  <a:srgbClr val="003366"/>
                </a:solidFill>
                <a:latin typeface="Calibri"/>
              </a:rPr>
              <a:t>Step 1 - Go to 'Evaluate Student' in the sidebar.</a:t>
            </a:r>
          </a:p>
          <a:p>
            <a:pPr/>
            <a:r>
              <a:rPr sz="500" b="0">
                <a:solidFill>
                  <a:srgbClr val="444455"/>
                </a:solidFill>
                <a:latin typeface="Calibri"/>
              </a:rPr>
              <a:t/>
            </a:r>
          </a:p>
          <a:p>
            <a:pPr/>
            <a:r>
              <a:rPr sz="1600" b="1">
                <a:solidFill>
                  <a:srgbClr val="003366"/>
                </a:solidFill>
                <a:latin typeface="Calibri"/>
              </a:rPr>
              <a:t>Step 2 - Select the Class and Section from the class selector at the top.</a:t>
            </a:r>
          </a:p>
          <a:p>
            <a:pPr/>
            <a:r>
              <a:rPr sz="500" b="0">
                <a:solidFill>
                  <a:srgbClr val="444455"/>
                </a:solidFill>
                <a:latin typeface="Calibri"/>
              </a:rPr>
              <a:t/>
            </a:r>
          </a:p>
          <a:p>
            <a:pPr/>
            <a:r>
              <a:rPr sz="1600" b="1">
                <a:solidFill>
                  <a:srgbClr val="003366"/>
                </a:solidFill>
                <a:latin typeface="Calibri"/>
              </a:rPr>
              <a:t>Step 3 - Search for and select the student using the searchable dropdown.</a:t>
            </a:r>
          </a:p>
          <a:p>
            <a:pPr lvl="1"/>
            <a:r>
              <a:rPr sz="1400" b="0">
                <a:solidFill>
                  <a:srgbClr val="444455"/>
                </a:solidFill>
                <a:latin typeface="Calibri"/>
              </a:rPr>
              <a:t>The student's current Growth Index and info will appear instantly.</a:t>
            </a:r>
          </a:p>
          <a:p>
            <a:pPr/>
            <a:r>
              <a:rPr sz="500" b="0">
                <a:solidFill>
                  <a:srgbClr val="444455"/>
                </a:solidFill>
                <a:latin typeface="Calibri"/>
              </a:rPr>
              <a:t/>
            </a:r>
          </a:p>
          <a:p>
            <a:pPr/>
            <a:r>
              <a:rPr sz="1600" b="1">
                <a:solidFill>
                  <a:srgbClr val="003366"/>
                </a:solidFill>
                <a:latin typeface="Calibri"/>
              </a:rPr>
              <a:t>Step 4 - Rate all 6 character attributes using the star rating (1-5 stars):</a:t>
            </a:r>
          </a:p>
          <a:p>
            <a:pPr lvl="1"/>
            <a:r>
              <a:rPr sz="1400" b="0">
                <a:solidFill>
                  <a:srgbClr val="444455"/>
                </a:solidFill>
                <a:latin typeface="Calibri"/>
              </a:rPr>
              <a:t>1 Star = Poor  |  2 Stars = Fair  |  3 Stars = Good  |  4 Stars = Very Good  |  5 Stars = Excellent</a:t>
            </a:r>
          </a:p>
          <a:p>
            <a:pPr lvl="1"/>
            <a:r>
              <a:rPr sz="1300" b="0">
                <a:solidFill>
                  <a:srgbClr val="444455"/>
                </a:solidFill>
                <a:latin typeface="Calibri"/>
              </a:rPr>
              <a:t>Color-coded stars show Improved (Green) / Declined (Red) / Same (Yellow) vs last evaluation.</a:t>
            </a:r>
          </a:p>
          <a:p>
            <a:pPr/>
            <a:r>
              <a:rPr sz="500" b="0">
                <a:solidFill>
                  <a:srgbClr val="444455"/>
                </a:solidFill>
                <a:latin typeface="Calibri"/>
              </a:rPr>
              <a:t/>
            </a:r>
          </a:p>
          <a:p>
            <a:pPr/>
            <a:r>
              <a:rPr sz="1600" b="1">
                <a:solidFill>
                  <a:srgbClr val="003366"/>
                </a:solidFill>
                <a:latin typeface="Calibri"/>
              </a:rPr>
              <a:t>Step 5 - Add optional Remarks in the text box (max 1000 characters).</a:t>
            </a:r>
          </a:p>
          <a:p>
            <a:pPr lvl="1"/>
            <a:r>
              <a:rPr sz="1300" b="0">
                <a:solidFill>
                  <a:srgbClr val="444455"/>
                </a:solidFill>
                <a:latin typeface="Calibri"/>
              </a:rPr>
              <a:t>Remarks are visible to the parent. Be professional and constructive.</a:t>
            </a:r>
          </a:p>
          <a:p>
            <a:pPr/>
            <a:r>
              <a:rPr sz="500" b="0">
                <a:solidFill>
                  <a:srgbClr val="444455"/>
                </a:solidFill>
                <a:latin typeface="Calibri"/>
              </a:rPr>
              <a:t/>
            </a:r>
          </a:p>
          <a:p>
            <a:pPr/>
            <a:r>
              <a:rPr sz="1600" b="1">
                <a:solidFill>
                  <a:srgbClr val="003366"/>
                </a:solidFill>
                <a:latin typeface="Calibri"/>
              </a:rPr>
              <a:t>Step 6 - Click 'Submit Evaluation' to save.</a:t>
            </a:r>
          </a:p>
          <a:p>
            <a:pPr lvl="1"/>
            <a:r>
              <a:rPr sz="1400" b="0">
                <a:solidFill>
                  <a:srgbClr val="444455"/>
                </a:solidFill>
                <a:latin typeface="Calibri"/>
              </a:rPr>
              <a:t>The system instantly recalculates the Growth Index and shows Progress/Loss result.</a:t>
            </a:r>
          </a:p>
          <a:p>
            <a:pPr/>
            <a:r>
              <a:rPr sz="500" b="0">
                <a:solidFill>
                  <a:srgbClr val="444455"/>
                </a:solidFill>
                <a:latin typeface="Calibri"/>
              </a:rPr>
              <a:t/>
            </a:r>
          </a:p>
          <a:p>
            <a:pPr/>
            <a:r>
              <a:rPr sz="1400" b="1">
                <a:solidFill>
                  <a:srgbClr val="CC0000"/>
                </a:solidFill>
                <a:latin typeface="Calibri"/>
              </a:rPr>
              <a:t>All 6 attributes MUST be rated before submission is enabled.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ZWATI Solutions  |  PGC-SGCMS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572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Understanding Progress &amp; Loss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74980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F"/>
                </a:solidFill>
                <a:latin typeface="Calibri"/>
              </a:rPr>
              <a:t>After every evaluation submission, the system shows a real-time result.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280160"/>
            <a:ext cx="117043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 b="1">
                <a:solidFill>
                  <a:srgbClr val="16A34A"/>
                </a:solidFill>
                <a:latin typeface="Calibri"/>
              </a:rPr>
              <a:t>Progress Result  (Green Banner)</a:t>
            </a:r>
          </a:p>
          <a:p>
            <a:pPr lvl="1"/>
            <a:r>
              <a:rPr sz="1500" b="0">
                <a:solidFill>
                  <a:srgbClr val="444455"/>
                </a:solidFill>
                <a:latin typeface="Calibri"/>
              </a:rPr>
              <a:t>The student's new Growth Index is higher than before.</a:t>
            </a:r>
          </a:p>
          <a:p>
            <a:pPr lvl="1"/>
            <a:r>
              <a:rPr sz="1400" b="0">
                <a:solidFill>
                  <a:srgbClr val="444455"/>
                </a:solidFill>
                <a:latin typeface="Calibri"/>
              </a:rPr>
              <a:t>Shows: Previous Index -&gt; New Index -&gt; Net Change (e.g. +4.2 Progress)</a:t>
            </a:r>
          </a:p>
          <a:p>
            <a:pPr/>
            <a:r>
              <a:rPr sz="600" b="0">
                <a:solidFill>
                  <a:srgbClr val="444455"/>
                </a:solidFill>
                <a:latin typeface="Calibri"/>
              </a:rPr>
              <a:t/>
            </a:r>
          </a:p>
          <a:p>
            <a:pPr/>
            <a:r>
              <a:rPr sz="1700" b="1">
                <a:solidFill>
                  <a:srgbClr val="CC0000"/>
                </a:solidFill>
                <a:latin typeface="Calibri"/>
              </a:rPr>
              <a:t>Loss Result  (Red Banner)</a:t>
            </a:r>
          </a:p>
          <a:p>
            <a:pPr lvl="1"/>
            <a:r>
              <a:rPr sz="1500" b="0">
                <a:solidFill>
                  <a:srgbClr val="444455"/>
                </a:solidFill>
                <a:latin typeface="Calibri"/>
              </a:rPr>
              <a:t>The student's Growth Index has decreased since the last evaluation.</a:t>
            </a:r>
          </a:p>
          <a:p>
            <a:pPr lvl="1"/>
            <a:r>
              <a:rPr sz="1400" b="0">
                <a:solidFill>
                  <a:srgbClr val="444455"/>
                </a:solidFill>
                <a:latin typeface="Calibri"/>
              </a:rPr>
              <a:t>Shows: Previous Index -&gt; New Index -&gt; Net Change (e.g. -2.8 Loss)</a:t>
            </a:r>
          </a:p>
          <a:p>
            <a:pPr lvl="1"/>
            <a:r>
              <a:rPr sz="1300" b="0">
                <a:solidFill>
                  <a:srgbClr val="444455"/>
                </a:solidFill>
                <a:latin typeface="Calibri"/>
              </a:rPr>
              <a:t>This is a signal to discuss with the student and contact parents.</a:t>
            </a:r>
          </a:p>
          <a:p>
            <a:pPr/>
            <a:r>
              <a:rPr sz="600" b="0">
                <a:solidFill>
                  <a:srgbClr val="444455"/>
                </a:solidFill>
                <a:latin typeface="Calibri"/>
              </a:rPr>
              <a:t/>
            </a:r>
          </a:p>
          <a:p>
            <a:pPr/>
            <a:r>
              <a:rPr sz="1700" b="1">
                <a:solidFill>
                  <a:srgbClr val="444455"/>
                </a:solidFill>
                <a:latin typeface="Calibri"/>
              </a:rPr>
              <a:t>Equal / Stable  (Gray Banner)</a:t>
            </a:r>
          </a:p>
          <a:p>
            <a:pPr lvl="1"/>
            <a:r>
              <a:rPr sz="1500" b="0">
                <a:solidFill>
                  <a:srgbClr val="444455"/>
                </a:solidFill>
                <a:latin typeface="Calibri"/>
              </a:rPr>
              <a:t>The Growth Index is the same - the student is maintaining their level.</a:t>
            </a:r>
          </a:p>
          <a:p>
            <a:pPr/>
            <a:r>
              <a:rPr sz="600" b="0">
                <a:solidFill>
                  <a:srgbClr val="444455"/>
                </a:solidFill>
                <a:latin typeface="Calibri"/>
              </a:rPr>
              <a:t/>
            </a:r>
          </a:p>
          <a:p>
            <a:pPr/>
            <a:r>
              <a:rPr sz="1700" b="1">
                <a:solidFill>
                  <a:srgbClr val="003366"/>
                </a:solidFill>
                <a:latin typeface="Calibri"/>
              </a:rPr>
              <a:t>Star Color Legend during Re-evaluation:</a:t>
            </a:r>
          </a:p>
          <a:p>
            <a:pPr lvl="1"/>
            <a:r>
              <a:rPr sz="1400" b="0">
                <a:solidFill>
                  <a:srgbClr val="16A34A"/>
                </a:solidFill>
                <a:latin typeface="Calibri"/>
              </a:rPr>
              <a:t>Green Stars = improved rating compared to last evaluation</a:t>
            </a:r>
          </a:p>
          <a:p>
            <a:pPr lvl="1"/>
            <a:r>
              <a:rPr sz="1400" b="0">
                <a:solidFill>
                  <a:srgbClr val="CC0000"/>
                </a:solidFill>
                <a:latin typeface="Calibri"/>
              </a:rPr>
              <a:t>Red Stars = lower rating compared to last evaluation</a:t>
            </a:r>
          </a:p>
          <a:p>
            <a:pPr lvl="1"/>
            <a:r>
              <a:rPr sz="1400" b="0">
                <a:solidFill>
                  <a:srgbClr val="D97706"/>
                </a:solidFill>
                <a:latin typeface="Calibri"/>
              </a:rPr>
              <a:t>Yellow Stars = same rating as before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ZWATI Solutions  |  PGC-SGCMS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9144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Best Practices &amp; Tips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051560"/>
            <a:ext cx="3749039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051560"/>
            <a:ext cx="3749039" cy="1097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" y="123444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3366"/>
                </a:solidFill>
                <a:latin typeface="Calibri"/>
              </a:rPr>
              <a:t>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234440"/>
            <a:ext cx="251459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366"/>
                </a:solidFill>
                <a:latin typeface="Calibri"/>
              </a:rPr>
              <a:t>Evaluate Regularly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1874520"/>
            <a:ext cx="34198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Submit evaluations at least once per month per student. Consistent data gives more accurate Growth Index trends.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15383" y="1051560"/>
            <a:ext cx="3749039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15383" y="1051560"/>
            <a:ext cx="3749039" cy="1097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79975" y="123444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3366"/>
                </a:solidFill>
                <a:latin typeface="Calibri"/>
              </a:rPr>
              <a:t>Pen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12663" y="1234440"/>
            <a:ext cx="251459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366"/>
                </a:solidFill>
                <a:latin typeface="Calibri"/>
              </a:rPr>
              <a:t>Write Useful Remarks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9975" y="1874520"/>
            <a:ext cx="34198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Parents read your remarks. Be specific: "Participated actively in group discussion on July 15" is better than "Good student".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02166" y="1051560"/>
            <a:ext cx="3749039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02166" y="1051560"/>
            <a:ext cx="3749039" cy="1097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58" y="123444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3366"/>
                </a:solidFill>
                <a:latin typeface="Calibri"/>
              </a:rPr>
              <a:t>Warn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9446" y="1234440"/>
            <a:ext cx="251459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366"/>
                </a:solidFill>
                <a:latin typeface="Calibri"/>
              </a:rPr>
              <a:t>Report Low Scores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58" y="1874520"/>
            <a:ext cx="34198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If a student scores below 3 stars on Discipline or Responsibility, notify the admin. Early intervention prevents bigger issues.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3566160"/>
            <a:ext cx="3749039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8600" y="3566160"/>
            <a:ext cx="3749039" cy="1097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" y="374904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3366"/>
                </a:solidFill>
                <a:latin typeface="Calibri"/>
              </a:rPr>
              <a:t>Ref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3749040"/>
            <a:ext cx="251459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366"/>
                </a:solidFill>
                <a:latin typeface="Calibri"/>
              </a:rPr>
              <a:t>Re-evaluate Fairly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" y="4389120"/>
            <a:ext cx="34198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Re-evaluations should reflect genuine change - do not just copy old scores. Observe first, then rate honestly.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15383" y="3566160"/>
            <a:ext cx="3749039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15383" y="3566160"/>
            <a:ext cx="3749039" cy="1097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79975" y="374904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3366"/>
                </a:solidFill>
                <a:latin typeface="Calibri"/>
              </a:rPr>
              <a:t>Lock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12663" y="3749040"/>
            <a:ext cx="251459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366"/>
                </a:solidFill>
                <a:latin typeface="Calibri"/>
              </a:rPr>
              <a:t>Keep Login Private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79975" y="4389120"/>
            <a:ext cx="34198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Never share your teacher credentials. Log out after each session, especially on shared computers.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02166" y="3566160"/>
            <a:ext cx="3749039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02166" y="3566160"/>
            <a:ext cx="3749039" cy="1097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66758" y="374904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3366"/>
                </a:solidFill>
                <a:latin typeface="Calibri"/>
              </a:rPr>
              <a:t>Data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99446" y="3749040"/>
            <a:ext cx="251459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366"/>
                </a:solidFill>
                <a:latin typeface="Calibri"/>
              </a:rPr>
              <a:t>Check Analytics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6758" y="4389120"/>
            <a:ext cx="34198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Admin: use the Analytics page weekly to monitor which attributes are declining school-wide and take corrective action.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263640"/>
            <a:ext cx="12188952" cy="457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You are now ready to use SGCMS!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321040"/>
            <a:ext cx="109728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03554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CDDFF"/>
                </a:solidFill>
                <a:latin typeface="Calibri"/>
              </a:rPr>
              <a:t>This system is your digital partner in building better students.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464540"/>
            <a:ext cx="109728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17904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For technical issues, contact: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7922240"/>
            <a:ext cx="1097280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C518"/>
                </a:solidFill>
                <a:latin typeface="Calibri"/>
              </a:rPr>
              <a:t>ZWATI Solutions - System 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355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Developed by ZWATI Solutions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