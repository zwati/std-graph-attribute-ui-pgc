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9992" y="182880"/>
            <a:ext cx="292608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79992" y="2011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Executive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Introducing SGCMS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  <a:latin typeface="Calibri"/>
              </a:rPr>
              <a:t>Student Growth &amp; Character Management System
A Proposal for Punjab Group of Colleges - Sahiwal Campus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Presented by ZWATI Solutions  | 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550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PGC-SGCMS | Punjab Group of Colleges Sahiwal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 We Are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Academic performance data exists - but character development data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444455"/>
                </a:solidFill>
                <a:latin typeface="Calibri"/>
              </a:rPr>
              <a:t>Pakistan's colleges focus heavily on exam results, but critical gaps remain: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CC0000"/>
                </a:solidFill>
                <a:latin typeface="Calibri"/>
              </a:rPr>
              <a:t>No standardized system to measure student character development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Teachers have no digital tool to record student behavior, discipline, and growth.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CC0000"/>
                </a:solidFill>
                <a:latin typeface="Calibri"/>
              </a:rPr>
              <a:t>Parents are left in the dark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Parents only see marks - they have no visibility into their child's conduct or soft skills.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CC0000"/>
                </a:solidFill>
                <a:latin typeface="Calibri"/>
              </a:rPr>
              <a:t>No early warning system for at-risk students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A student's discipline may be declining for months before anyone notices.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CC0000"/>
                </a:solidFill>
                <a:latin typeface="Calibri"/>
              </a:rPr>
              <a:t>No data-driven decision making for administration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Principals and HODs rely on verbal reports - not verified, quantified institutional data.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CC0000"/>
                </a:solidFill>
                <a:latin typeface="Calibri"/>
              </a:rPr>
              <a:t>Parent-teacher communication is limited to once-a-semester meetings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There is no ongoing channel for parents to monitor character progress continuously.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Solution - SGCMS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A purpose-built, end-to-end character management system for Punjab Group of Colleges.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444455"/>
                </a:solidFill>
                <a:latin typeface="Calibri"/>
              </a:rPr>
              <a:t>SGCMS is a full-stack web application that digitizes student character evaluation across the entire campus.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0">
                <a:solidFill>
                  <a:srgbClr val="444455"/>
                </a:solidFill>
                <a:latin typeface="Calibri"/>
              </a:rPr>
              <a:t>Teachers evaluate students on 6 scientifically chosen character attributes monthly</a:t>
            </a:r>
          </a:p>
          <a:p>
            <a:pPr/>
            <a:r>
              <a:rPr sz="1600" b="0">
                <a:solidFill>
                  <a:srgbClr val="444455"/>
                </a:solidFill>
                <a:latin typeface="Calibri"/>
              </a:rPr>
              <a:t>The system automatically calculates a Growth Index (0-100) per student</a:t>
            </a:r>
          </a:p>
          <a:p>
            <a:pPr/>
            <a:r>
              <a:rPr sz="1600" b="0">
                <a:solidFill>
                  <a:srgbClr val="444455"/>
                </a:solidFill>
                <a:latin typeface="Calibri"/>
              </a:rPr>
              <a:t>Parents get real-time access through a dedicated parent portal</a:t>
            </a:r>
          </a:p>
          <a:p>
            <a:pPr/>
            <a:r>
              <a:rPr sz="1600" b="0">
                <a:solidFill>
                  <a:srgbClr val="444455"/>
                </a:solidFill>
                <a:latin typeface="Calibri"/>
              </a:rPr>
              <a:t>Admins get school-wide analytics and performance reports</a:t>
            </a:r>
          </a:p>
          <a:p>
            <a:pPr/>
            <a:r>
              <a:rPr sz="1600" b="0">
                <a:solidFill>
                  <a:srgbClr val="444455"/>
                </a:solidFill>
                <a:latin typeface="Calibri"/>
              </a:rPr>
              <a:t>PDF report cards can be generated and downloaded at any time</a:t>
            </a:r>
          </a:p>
          <a:p>
            <a:pPr/>
            <a:r>
              <a:rPr sz="1600" b="0">
                <a:solidFill>
                  <a:srgbClr val="444455"/>
                </a:solidFill>
                <a:latin typeface="Calibri"/>
              </a:rPr>
              <a:t>Works on any device - phone, tablet, or computer - no installation required</a:t>
            </a:r>
          </a:p>
          <a:p>
            <a:pPr/>
            <a:r>
              <a:rPr sz="1600" b="0">
                <a:solidFill>
                  <a:srgbClr val="444455"/>
                </a:solidFill>
                <a:latin typeface="Calibri"/>
              </a:rPr>
              <a:t>Single-click server startup - runs on campus hardware 24/7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003366"/>
                </a:solidFill>
                <a:latin typeface="Calibri"/>
              </a:rPr>
              <a:t>Built on a modern, proven technology stack: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React.js (Frontend)  |  Node.js + Express (Backend)  |  MongoDB (Database)  |  Cloudflare (Secure Access)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Core Features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Growth Index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Proprietary algorithm converts 6 attribute star-ratings into a 0-100 Growth Index per student with EMA trend tracking.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3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3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5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3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Three-Role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5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Admin, Teacher, and Parent each have dedicated, role-restricted dashboards accessible from any device via secure URL.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6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6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8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Stars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6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Star-Rating Evaluations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Teachers rate students monthly on Communication, Participation, Discipline, Teamwork, Responsibility, and Leadership.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Progress &amp; Loss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The system automatically detects and flags whether each re-evaluation shows Character Progress or Performance Loss.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5383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5383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5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2663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Progressive Web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5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Installable on Android/iOS home screen as a standalone app - no app store required. Works offline for cached pages.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2166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02166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58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6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PDF Report Cards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8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Professionally formatted, downloadable Growth Report Cards for students - suitable for parent meetings and archiving.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6 Character Evaluation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Chosen to align with 21st-century competency frameworks and PGC's vision of holistic education.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5486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Communication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Ability to express ideas clearly, listen actively, and communicate with respect.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Class Participation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Level of engagement: asking questions, contributing to discussions, taking initiative.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Discipline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Adherence to rules, punctuality, uniform compliance, and professional conduct.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36576" cy="498348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280160"/>
            <a:ext cx="5486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Teamwork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Ability to collaborate, share responsibilities, and support group objectives.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Responsibility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Reliability in completing assignments, ownership of actions, and accountability.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Leadership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Initiative-taking, positive influence on peers, and demonstration of future-leader qualities.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Capabilities &amp;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2743200" cy="10972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66"/>
                </a:solidFill>
                <a:latin typeface="Calibri"/>
              </a:rP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148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366"/>
                </a:solidFill>
                <a:latin typeface="Calibri"/>
              </a:rPr>
              <a:t>Unlimited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383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  <a:latin typeface="Calibri"/>
              </a:rPr>
              <a:t>Students
Manageable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6392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36392" y="1143000"/>
            <a:ext cx="27432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0000"/>
                </a:solidFill>
                <a:latin typeface="Calibri"/>
              </a:rPr>
              <a:t>6 Attrs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148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3383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  <a:latin typeface="Calibri"/>
              </a:rPr>
              <a:t>Character Attributes
Tracked Per Student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4184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44184" y="1143000"/>
            <a:ext cx="27432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4184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alibri"/>
              </a:rPr>
              <a:t>Any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2148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  <a:latin typeface="Calibri"/>
              </a:rPr>
              <a:t>Any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3383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  <a:latin typeface="Calibri"/>
              </a:rPr>
              <a:t>Phone, Tablet
&amp; PC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1976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1976" y="1143000"/>
            <a:ext cx="27432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  <a:latin typeface="Calibri"/>
              </a:rPr>
              <a:t>24/7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2148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Calibri"/>
              </a:rPr>
              <a:t>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3383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  <a:latin typeface="Calibri"/>
              </a:rPr>
              <a:t>Uptime via
Cloudflare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4455"/>
                </a:solidFill>
                <a:latin typeface="Calibri"/>
              </a:rPr>
              <a:t>System tested and deployed on campus hardware with MongoDB, Node.js, and Cloudflare for continuous secure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SGCMS Over a Generic Solution?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Built from scratch for PGC Sahiwal - not a generic school management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5486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PGC-Specific Design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Built exactly for PGC's class structure, grading conventions, and campus workflow.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Cost Effective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One-time development cost. Runs on campus hardware. No monthly SaaS fees.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Data Stays in Pakistan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All data is stored on your own campus MongoDB server. No third-party cloud dependency.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Already Built &amp; Running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SGCMS is NOT a concept - it is fully developed, tested, and deployable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36576" cy="498348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280160"/>
            <a:ext cx="5486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Character Data = Unique Value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No other PGC campus has a character growth tracking system. This is a differentiator.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Self-Healing Setup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Auto starts after power cuts. BIOS-level auto-power-on &amp; Windows startup script. Zero manual intervention.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Parent Engagement Built-In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Parents are active users - not just recipients of printed report cards.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ZWATI Solutions Support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Full technical support, updates, and training provided by ZWATI Solutions.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Implementation Plan - Ready in Days, Not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Phase 1 - Hardware Setup  (Day 1)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Install a designated server PC in the admin office. Min: Intel i3, 8GB RAM, 120GB SSD, Windows 10.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Configure BIOS auto-power-on, Windows auto-login, and campus Wi-Fi auto-connect.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Phase 2 - Software Deployment  (Day 1-2)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Install Node.js and MongoDB on the server. Run the one-click Start_PGC_SGCMS.bat launcher.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Verify all 4 services: MongoDB, Express API, Vite Frontend, Cloudflare Tunnel.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Phase 3 - Data Entry  (Day 2-3)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Admin enters all students, classes, and teachers into the system. Parent passwords are assigned.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Phase 4 - Staff Training  (Day 3-4)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ZWATI Solutions conducts a 1-hour training session for teachers and admin staff.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Phase 5 - Parent Rollout  (Day 4-5)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Distribute QR codes and parent passwords. Present the parent orientation session.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Value Delivered to Punjab Group of Colleges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Pres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Institutional Prestige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Be the FIRST PGC campus in the network to deploy a character growth tracking system - a major differentiator.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3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3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5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Par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3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Parent Trust &amp;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5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Parents with real-time data trust the institution more - improving enrollment retention and word-of-mouth.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6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6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8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6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Data-Driven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The Principal and HODs make decisions based on school-wide character analytics - not just gut feeling.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Warn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Early Intervention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Identify struggling students weeks before problems escalate. Act before attendance or results deteriorate.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5383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5383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5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Cert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2663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Holistic Education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5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Students graduate with a complete Character Development Record alongside their academic transcript.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2166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02166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58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Web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6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Digital Transformation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8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Demonstrates PGC's commitment to modern, technology-driven education to parents, students, and the community.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Target Deployment: 2nd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Sahiwal Campus - Pakpattan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CC0000"/>
                </a:solidFill>
                <a:latin typeface="Calibri"/>
              </a:rPr>
              <a:t>The system is FULLY BUILT and ready for immediate deployment.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2000" b="1">
                <a:solidFill>
                  <a:srgbClr val="003366"/>
                </a:solidFill>
                <a:latin typeface="Calibri"/>
              </a:rPr>
              <a:t>Target Go-Live Date:  2nd August 2026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What happens on Day 1: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Server PC connected and configured at campus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All services auto-start on boot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Admin enters initial student/teacher data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Teachers begin their first round of evaluations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Parents receive QR codes and login credentials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From Day 1 onwards: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The system is live, accessible campus-wide and globally via the Cloudflare secure tunnel.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ZWATI Solutions provides ongoing technical support for the first 3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About ZWATI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The technology partner behind PGC-SGCMS.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444455"/>
                </a:solidFill>
                <a:latin typeface="Calibri"/>
              </a:rPr>
              <a:t>ZWATI Solutions is a Pakistan-based software development company specializing in custom educational technology.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What We Built for PGC Sahiwal: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Full-stack SGCMS web application - frontend, backend, database, and deployment pipeline.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Progressive Web App (PWA) - installable on any device without an app store.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Cloudflare tunnel integration - secure global access via a single URL.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One-click startup BAT script - fully automated server launch.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Self-healing deployment - BIOS and Windows-level auto-recovery after power loss.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Our Commitment: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Full handover of source code and complete technical documentation.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1-hour training session for admin and teachers included.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3 months of free technical support post-deployment.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Future feature upgrades available on 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832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SGCMS is 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37844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092940"/>
            <a:ext cx="109728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FF"/>
                </a:solidFill>
                <a:latin typeface="Calibri"/>
              </a:rPr>
              <a:t>Punjab Group of Colleges Sahiwal deserves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864840"/>
            <a:ext cx="109728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FF"/>
                </a:solidFill>
                <a:latin typeface="Calibri"/>
              </a:rPr>
              <a:t>the best tools to shape Pakistan's future leaders.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3674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51240"/>
            <a:ext cx="10972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C518"/>
                </a:solidFill>
                <a:latin typeface="Calibri"/>
              </a:rPr>
              <a:t>Let's move forward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466040"/>
            <a:ext cx="10972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523440"/>
            <a:ext cx="1097280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ZWATI Solutions  -  Transforming Education Through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Developed by ZWATI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